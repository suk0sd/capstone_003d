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 Kreimerman" userId="e48abd17f834892e" providerId="LiveId" clId="{D9715E6E-9DDE-40BD-BBDA-6D90860D45FA}"/>
    <pc:docChg chg="modSld">
      <pc:chgData name="Max Kreimerman" userId="e48abd17f834892e" providerId="LiveId" clId="{D9715E6E-9DDE-40BD-BBDA-6D90860D45FA}" dt="2026-06-10T13:05:49.151" v="53" actId="20577"/>
      <pc:docMkLst>
        <pc:docMk/>
      </pc:docMkLst>
      <pc:sldChg chg="modSp mod">
        <pc:chgData name="Max Kreimerman" userId="e48abd17f834892e" providerId="LiveId" clId="{D9715E6E-9DDE-40BD-BBDA-6D90860D45FA}" dt="2026-06-10T13:05:49.151" v="53" actId="20577"/>
        <pc:sldMkLst>
          <pc:docMk/>
          <pc:sldMk cId="0" sldId="256"/>
        </pc:sldMkLst>
        <pc:spChg chg="mod">
          <ac:chgData name="Max Kreimerman" userId="e48abd17f834892e" providerId="LiveId" clId="{D9715E6E-9DDE-40BD-BBDA-6D90860D45FA}" dt="2026-06-10T13:05:49.151" v="53" actId="20577"/>
          <ac:spMkLst>
            <pc:docMk/>
            <pc:sldMk cId="0" sldId="256"/>
            <ac:spMk id="19" creationId="{00000000-0000-0000-0000-000000000000}"/>
          </ac:spMkLst>
        </pc:spChg>
      </pc:sldChg>
      <pc:sldChg chg="modSp mod">
        <pc:chgData name="Max Kreimerman" userId="e48abd17f834892e" providerId="LiveId" clId="{D9715E6E-9DDE-40BD-BBDA-6D90860D45FA}" dt="2026-06-10T13:05:32.996" v="52" actId="20577"/>
        <pc:sldMkLst>
          <pc:docMk/>
          <pc:sldMk cId="0" sldId="257"/>
        </pc:sldMkLst>
        <pc:spChg chg="mod">
          <ac:chgData name="Max Kreimerman" userId="e48abd17f834892e" providerId="LiveId" clId="{D9715E6E-9DDE-40BD-BBDA-6D90860D45FA}" dt="2026-06-10T13:05:32.996" v="52" actId="20577"/>
          <ac:spMkLst>
            <pc:docMk/>
            <pc:sldMk cId="0" sldId="257"/>
            <ac:spMk id="31" creationId="{00000000-0000-0000-0000-000000000000}"/>
          </ac:spMkLst>
        </pc:spChg>
      </pc:sldChg>
      <pc:sldChg chg="modSp mod">
        <pc:chgData name="Max Kreimerman" userId="e48abd17f834892e" providerId="LiveId" clId="{D9715E6E-9DDE-40BD-BBDA-6D90860D45FA}" dt="2026-06-10T11:49:26.450" v="30" actId="20577"/>
        <pc:sldMkLst>
          <pc:docMk/>
          <pc:sldMk cId="0" sldId="261"/>
        </pc:sldMkLst>
        <pc:spChg chg="mod">
          <ac:chgData name="Max Kreimerman" userId="e48abd17f834892e" providerId="LiveId" clId="{D9715E6E-9DDE-40BD-BBDA-6D90860D45FA}" dt="2026-06-10T11:49:11.788" v="10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Max Kreimerman" userId="e48abd17f834892e" providerId="LiveId" clId="{D9715E6E-9DDE-40BD-BBDA-6D90860D45FA}" dt="2026-06-10T11:49:26.450" v="30" actId="20577"/>
          <ac:spMkLst>
            <pc:docMk/>
            <pc:sldMk cId="0" sldId="261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1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F335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327648" y="0"/>
            <a:ext cx="73152" cy="5143500"/>
          </a:xfrm>
          <a:prstGeom prst="rect">
            <a:avLst/>
          </a:prstGeom>
          <a:solidFill>
            <a:srgbClr val="E8930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114032" y="914400"/>
            <a:ext cx="1325880" cy="13258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6858000" y="2743200"/>
            <a:ext cx="457200" cy="4572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7589520" y="2743200"/>
            <a:ext cx="457200" cy="4572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6858000" y="3520440"/>
            <a:ext cx="457200" cy="4572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>
            <a:off x="7589520" y="3520440"/>
            <a:ext cx="457200" cy="4572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48640" y="777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GPI  ·  INDUSTRIAL AI SUITE</a:t>
            </a:r>
            <a:endParaRPr lang="en-US" sz="1300" dirty="0"/>
          </a:p>
        </p:txBody>
      </p:sp>
      <p:sp>
        <p:nvSpPr>
          <p:cNvPr id="10" name="Text 3"/>
          <p:cNvSpPr/>
          <p:nvPr/>
        </p:nvSpPr>
        <p:spPr>
          <a:xfrm>
            <a:off x="548640" y="123444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on the Plant Floor</a:t>
            </a:r>
            <a:endParaRPr lang="en-US" sz="4000" dirty="0"/>
          </a:p>
        </p:txBody>
      </p:sp>
      <p:sp>
        <p:nvSpPr>
          <p:cNvPr id="11" name="Text 4"/>
          <p:cNvSpPr/>
          <p:nvPr/>
        </p:nvSpPr>
        <p:spPr>
          <a:xfrm>
            <a:off x="548640" y="269748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 applications that cut downtime, prevent incidents, accelerate workforce readiness and automate compliance — built for production management.</a:t>
            </a:r>
            <a:endParaRPr lang="en-US" sz="1500" dirty="0"/>
          </a:p>
        </p:txBody>
      </p:sp>
      <p:sp>
        <p:nvSpPr>
          <p:cNvPr id="12" name="Shape 5"/>
          <p:cNvSpPr/>
          <p:nvPr/>
        </p:nvSpPr>
        <p:spPr>
          <a:xfrm>
            <a:off x="548640" y="3977640"/>
            <a:ext cx="1335024" cy="384048"/>
          </a:xfrm>
          <a:prstGeom prst="rect">
            <a:avLst/>
          </a:prstGeom>
          <a:solidFill>
            <a:srgbClr val="1F3354"/>
          </a:solidFill>
          <a:ln w="12700">
            <a:solidFill>
              <a:srgbClr val="E893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6"/>
          <p:cNvSpPr/>
          <p:nvPr/>
        </p:nvSpPr>
        <p:spPr>
          <a:xfrm>
            <a:off x="548640" y="39776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BARB</a:t>
            </a: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1993392" y="3977640"/>
            <a:ext cx="1335024" cy="384048"/>
          </a:xfrm>
          <a:prstGeom prst="rect">
            <a:avLst/>
          </a:prstGeom>
          <a:solidFill>
            <a:srgbClr val="1F3354"/>
          </a:solidFill>
          <a:ln w="12700">
            <a:solidFill>
              <a:srgbClr val="E893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8"/>
          <p:cNvSpPr/>
          <p:nvPr/>
        </p:nvSpPr>
        <p:spPr>
          <a:xfrm>
            <a:off x="1993392" y="39776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SSO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3438144" y="3977640"/>
            <a:ext cx="1335024" cy="384048"/>
          </a:xfrm>
          <a:prstGeom prst="rect">
            <a:avLst/>
          </a:prstGeom>
          <a:solidFill>
            <a:srgbClr val="1F3354"/>
          </a:solidFill>
          <a:ln w="12700">
            <a:solidFill>
              <a:srgbClr val="E893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0"/>
          <p:cNvSpPr/>
          <p:nvPr/>
        </p:nvSpPr>
        <p:spPr>
          <a:xfrm>
            <a:off x="3438144" y="39776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ONBOARDHUB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4882896" y="3977640"/>
            <a:ext cx="1335024" cy="384048"/>
          </a:xfrm>
          <a:prstGeom prst="rect">
            <a:avLst/>
          </a:prstGeom>
          <a:solidFill>
            <a:srgbClr val="1F3354"/>
          </a:solidFill>
          <a:ln w="12700">
            <a:solidFill>
              <a:srgbClr val="E893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2"/>
          <p:cNvSpPr/>
          <p:nvPr/>
        </p:nvSpPr>
        <p:spPr>
          <a:xfrm>
            <a:off x="4882896" y="39776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 FOR PRODUCTION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Processes Where Plants Bleed Time and Money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64008" cy="1508760"/>
          </a:xfrm>
          <a:prstGeom prst="rect">
            <a:avLst/>
          </a:prstGeom>
          <a:solidFill>
            <a:srgbClr val="E893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04088" y="1664208"/>
            <a:ext cx="420624" cy="420624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76936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093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US$2,000 / min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8928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Unplanned downtime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80160" y="2157984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4-hour outage can cost US$480,000+. Root causes are organizational: scattered manuals, expert dependency, no traceability.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46304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663440" y="1463040"/>
            <a:ext cx="64008" cy="1508760"/>
          </a:xfrm>
          <a:prstGeom prst="rect">
            <a:avLst/>
          </a:prstGeom>
          <a:solidFill>
            <a:srgbClr val="E893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864608" y="1664208"/>
            <a:ext cx="420624" cy="420624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764" y="1769364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6093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Reactive safety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40680" y="18928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Incidents managed after the fact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440680" y="2157984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and Excel-based reporting means lost reports, no real-time risk visibility and broken feedback loops on the floor.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02920" y="315468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502920" y="3154680"/>
            <a:ext cx="64008" cy="1508760"/>
          </a:xfrm>
          <a:prstGeom prst="rect">
            <a:avLst/>
          </a:prstGeom>
          <a:solidFill>
            <a:srgbClr val="E893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6"/>
          <p:cNvSpPr/>
          <p:nvPr/>
        </p:nvSpPr>
        <p:spPr>
          <a:xfrm>
            <a:off x="704088" y="3355848"/>
            <a:ext cx="420624" cy="420624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3461004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330098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Weeks, not days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280160" y="35844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workforce readiness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280160" y="3849624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onboarding delays time-to-productivity and lets workers reach hazardous areas before training is verified.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63440" y="315468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1"/>
          <p:cNvSpPr/>
          <p:nvPr/>
        </p:nvSpPr>
        <p:spPr>
          <a:xfrm>
            <a:off x="4663440" y="3154680"/>
            <a:ext cx="64008" cy="1508760"/>
          </a:xfrm>
          <a:prstGeom prst="rect">
            <a:avLst/>
          </a:prstGeom>
          <a:solidFill>
            <a:srgbClr val="E893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2"/>
          <p:cNvSpPr/>
          <p:nvPr/>
        </p:nvSpPr>
        <p:spPr>
          <a:xfrm>
            <a:off x="4864608" y="3355848"/>
            <a:ext cx="420624" cy="420624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9764" y="3461004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40680" y="330098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months · $30–80K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5440680" y="35844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as a project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5440680" y="3849624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and other compliance certification via traditional consulting is slow, expensive and goes stale the day the auditor leaves.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01 — MAINTENANCE &amp; 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Barb — The AI Maintenance Copilot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every manual, intervention and failure pattern into institutional knowledge any technician can query.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475488" cy="475488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08483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911096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Chat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24712" y="2203704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access to manuals, procedures and specs — filtered by plant, discipline and machine.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880360"/>
            <a:ext cx="475488" cy="475488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99923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4712" y="2825496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Debug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24712" y="3118104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troubleshooting using documentation, intervention history and known failure patterns.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2920" y="3794760"/>
            <a:ext cx="475488" cy="475488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913632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24712" y="3739896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Alerts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24712" y="4032504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failure precursors (e.g. rising bearing temperature) and triggers preventive work orders.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897880" y="1463040"/>
            <a:ext cx="2743200" cy="3246120"/>
          </a:xfrm>
          <a:prstGeom prst="rect">
            <a:avLst/>
          </a:prstGeom>
          <a:solidFill>
            <a:srgbClr val="16243D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5897880" y="1463040"/>
            <a:ext cx="82296" cy="3246120"/>
          </a:xfrm>
          <a:prstGeom prst="rect">
            <a:avLst/>
          </a:prstGeom>
          <a:solidFill>
            <a:srgbClr val="E893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6190488" y="17373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 min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190488" y="21579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resolve a press failure that used to take 2–4 hours waiting for a specialist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190488" y="26517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US$410K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190488" y="30723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in a single documented downtime event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190488" y="35661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MTTR · MTBF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190488" y="39867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KPIs, work orders and downtime cost on one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468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02 — SAFETY &amp;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154680" y="69494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SSO — Real-Time Plant Risk Management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154680" y="129844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field workers to management with one live picture of risk across the plant.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331720" cy="3246120"/>
          </a:xfrm>
          <a:prstGeom prst="rect">
            <a:avLst/>
          </a:prstGeom>
          <a:solidFill>
            <a:srgbClr val="16243D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82296" cy="3246120"/>
          </a:xfrm>
          <a:prstGeom prst="rect">
            <a:avLst/>
          </a:prstGeom>
          <a:solidFill>
            <a:srgbClr val="E893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95528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sec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5528" y="21579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worker to report a hazard or incident from a phone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5528" y="2651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KPIs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" y="30723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safety indicators with SLA-enforced closure times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95528" y="3566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5528" y="39867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— act before the accident, not after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1965960"/>
            <a:ext cx="475488" cy="475488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2084832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776472" y="1911096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Incident Capture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3776472" y="2203704"/>
            <a:ext cx="4864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location reporting in under a minute; nothing gets lost in paper or Excel.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154680" y="2880360"/>
            <a:ext cx="475488" cy="475488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2999232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76472" y="2825496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 Center &amp; Digital Twin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3776472" y="3118104"/>
            <a:ext cx="4864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heatmap over plant zones with AI-scored risk levels and dynamic danger areas.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154680" y="3794760"/>
            <a:ext cx="475488" cy="475488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391363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76472" y="3739896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Alerts &amp; Auto-Reporting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3776472" y="4032504"/>
            <a:ext cx="4864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escalation when SLAs are breached; compliance reports generated without manual work.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03 — WORKFORCE READINESS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OnboardHub — Safe, Fast Workforce Integration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2606040" cy="64008"/>
          </a:xfrm>
          <a:prstGeom prst="rect">
            <a:avLst/>
          </a:prstGeom>
          <a:solidFill>
            <a:srgbClr val="E893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8973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322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Journey Builder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259689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onboarding pipelines with safety gates: training and certifications lock until prerequisites are complete.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572768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291840" y="1572768"/>
            <a:ext cx="2606040" cy="64008"/>
          </a:xfrm>
          <a:prstGeom prst="rect">
            <a:avLst/>
          </a:prstGeom>
          <a:solidFill>
            <a:srgbClr val="E893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3520440" y="1783080"/>
            <a:ext cx="457200" cy="457200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740" y="189738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322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Exception Alerts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20440" y="259689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stalled hires, manager non-response and SLA breaches so delays never cascade.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0760" y="1572768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6080760" y="1572768"/>
            <a:ext cx="2606040" cy="64008"/>
          </a:xfrm>
          <a:prstGeom prst="rect">
            <a:avLst/>
          </a:prstGeom>
          <a:solidFill>
            <a:srgbClr val="E893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6309360" y="1783080"/>
            <a:ext cx="457200" cy="457200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189738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2322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Manager Analytics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309360" y="259689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Scorecards and stage-by-stage satisfaction reveal exactly where onboarding breaks down.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3767328"/>
            <a:ext cx="8138160" cy="1005840"/>
          </a:xfrm>
          <a:prstGeom prst="rect">
            <a:avLst/>
          </a:prstGeom>
          <a:solidFill>
            <a:srgbClr val="16243D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18"/>
          <p:cNvSpPr/>
          <p:nvPr/>
        </p:nvSpPr>
        <p:spPr>
          <a:xfrm>
            <a:off x="777240" y="3922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 vs 4.1 days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777240" y="42611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response with vs. without optimized journeys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3566160" y="3922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4.2 / 5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3566160" y="42611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new-hire satisfaction, trending up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355080" y="3922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verified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6355080" y="42611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training before plant-floor access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04 — COMPLIANCE &amp; INFOSEC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Dani — AI Agents for Compliance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AI agents do the compliance heavy lifting; your team stays in control.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475488" cy="475488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03911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865376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 Analysis &amp; Risk Map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24712" y="2157984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assess your posture against ISO or other regulations and map risks to the controls that matter.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697480"/>
            <a:ext cx="475488" cy="475488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81635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4712" y="2642616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&amp; Document Generation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24712" y="2935224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the full ISMS document set, tailored to your operation, ready for sign-off.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2920" y="3474720"/>
            <a:ext cx="475488" cy="475488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593592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24712" y="3419856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Harvesting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24712" y="3712464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evidence collection with cryptographic proof — always audit-ready, never stale.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02920" y="4251960"/>
            <a:ext cx="475488" cy="475488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37083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24712" y="4197096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Room &amp; CAPA Tracker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124712" y="4489704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for auditors, findings and corrective actions.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897880" y="1463040"/>
            <a:ext cx="2743200" cy="3246120"/>
          </a:xfrm>
          <a:prstGeom prst="rect">
            <a:avLst/>
          </a:prstGeom>
          <a:solidFill>
            <a:srgbClr val="16243D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5897880" y="1463040"/>
            <a:ext cx="82296" cy="3246120"/>
          </a:xfrm>
          <a:prstGeom prst="rect">
            <a:avLst/>
          </a:prstGeom>
          <a:solidFill>
            <a:srgbClr val="E893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/>
          <p:nvPr/>
        </p:nvSpPr>
        <p:spPr>
          <a:xfrm>
            <a:off x="6190488" y="17373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→ 6 mo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6190488" y="21579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faster path to certification vs. traditional consulting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190488" y="26517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~90%</a:t>
            </a:r>
            <a:endParaRPr lang="en-US" sz="2100" dirty="0"/>
          </a:p>
        </p:txBody>
      </p:sp>
      <p:sp>
        <p:nvSpPr>
          <p:cNvPr id="26" name="Text 20"/>
          <p:cNvSpPr/>
          <p:nvPr/>
        </p:nvSpPr>
        <p:spPr>
          <a:xfrm>
            <a:off x="6190488" y="30723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than US$30–80K consultancy engagements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190488" y="35661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Always-on</a:t>
            </a:r>
            <a:endParaRPr lang="en-US" sz="2100" dirty="0"/>
          </a:p>
        </p:txBody>
      </p:sp>
      <p:sp>
        <p:nvSpPr>
          <p:cNvPr id="28" name="Text 22"/>
          <p:cNvSpPr/>
          <p:nvPr/>
        </p:nvSpPr>
        <p:spPr>
          <a:xfrm>
            <a:off x="6190488" y="39867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assurance replaces once-a-year compliance panic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OPERATING LOGIC ACROSS THE SUITE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Suite Delivers: From Field Data to Decisions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93192" y="160020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28700" y="1828800"/>
            <a:ext cx="603504" cy="603504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197967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57860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Capture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9496" y="2871216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and workers feed data in seconds — failures, hazards, tasks, evidence — from tablets and phones.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267712" y="2487168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69464" y="160020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204972" y="1828800"/>
            <a:ext cx="603504" cy="603504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979676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79192" y="257860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AI Analysis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15768" y="2871216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reason over manuals, history and live signals to diagnose, score risk and predict what happens next.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443984" y="2487168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745736" y="160020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5381244" y="1828800"/>
            <a:ext cx="603504" cy="603504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979676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55464" y="257860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Guided Action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892040" y="2871216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orders, corrective actions and training gates are created, assigned and SLA-tracked automatically.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620256" y="2487168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93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922008" y="160020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7557516" y="1828800"/>
            <a:ext cx="603504" cy="603504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2" y="1979676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31736" y="257860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Live KPIs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068312" y="2871216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MTTR, risk levels, readiness and compliance status — live, traceable, on one screen.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the suite touches becomes reusable institutional knowledge — the system gets smarter with each shift.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PAYOFF FOR PRODUCTION MANAGEMENT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Downtime. Fewer Incidents. Faster Teams. Audit-Ready.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810512" cy="1417320"/>
          </a:xfrm>
          <a:prstGeom prst="rect">
            <a:avLst/>
          </a:prstGeom>
          <a:solidFill>
            <a:srgbClr val="1F335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810512" cy="54864"/>
          </a:xfrm>
          <a:prstGeom prst="rect">
            <a:avLst/>
          </a:prstGeom>
          <a:solidFill>
            <a:srgbClr val="E8930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2996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50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to $410K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7980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downtime event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06040" y="1828800"/>
            <a:ext cx="1810512" cy="1417320"/>
          </a:xfrm>
          <a:prstGeom prst="rect">
            <a:avLst/>
          </a:prstGeom>
          <a:solidFill>
            <a:srgbClr val="1F335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2606040" y="1828800"/>
            <a:ext cx="1810512" cy="54864"/>
          </a:xfrm>
          <a:prstGeom prst="rect">
            <a:avLst/>
          </a:prstGeom>
          <a:solidFill>
            <a:srgbClr val="E8930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02996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2450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60–85%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0" y="27980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failure resolution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709160" y="1828800"/>
            <a:ext cx="1810512" cy="1417320"/>
          </a:xfrm>
          <a:prstGeom prst="rect">
            <a:avLst/>
          </a:prstGeom>
          <a:solidFill>
            <a:srgbClr val="1F335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4709160" y="1828800"/>
            <a:ext cx="1810512" cy="54864"/>
          </a:xfrm>
          <a:prstGeom prst="rect">
            <a:avLst/>
          </a:prstGeom>
          <a:solidFill>
            <a:srgbClr val="E8930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02996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6320" y="2450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846320" y="27980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risk visibility &amp; SLAs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812280" y="1828800"/>
            <a:ext cx="1810512" cy="1417320"/>
          </a:xfrm>
          <a:prstGeom prst="rect">
            <a:avLst/>
          </a:prstGeom>
          <a:solidFill>
            <a:srgbClr val="1F335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6812280" y="1828800"/>
            <a:ext cx="1810512" cy="54864"/>
          </a:xfrm>
          <a:prstGeom prst="rect">
            <a:avLst/>
          </a:prstGeom>
          <a:solidFill>
            <a:srgbClr val="E8930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202996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2450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 faster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949440" y="27980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certification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 90-day pilot in one plant — one process, measurable KPIs, your data.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4251960"/>
            <a:ext cx="8046720" cy="0"/>
          </a:xfrm>
          <a:prstGeom prst="line">
            <a:avLst/>
          </a:prstGeom>
          <a:noFill/>
          <a:ln w="12700">
            <a:solidFill>
              <a:srgbClr val="1F335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 ·  max@wellq.co.uk  ·  GPI Industrial AI Suite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828</Words>
  <Application>Microsoft Office PowerPoint</Application>
  <PresentationFormat>On-screen Show (16:9)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Operations Suite for Industrial Production</dc:title>
  <dc:subject>PptxGenJS Presentation</dc:subject>
  <dc:creator>WellQ / GPI</dc:creator>
  <cp:lastModifiedBy>Max Kreimerman</cp:lastModifiedBy>
  <cp:revision>1</cp:revision>
  <dcterms:created xsi:type="dcterms:W3CDTF">2026-06-10T11:44:52Z</dcterms:created>
  <dcterms:modified xsi:type="dcterms:W3CDTF">2026-06-10T13:05:58Z</dcterms:modified>
</cp:coreProperties>
</file>